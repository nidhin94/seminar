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NPS &amp; Feedback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Understanding customer loyalty through data — from score to insight.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0106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is NPS?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645245"/>
            <a:ext cx="2917851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NPS = Net Promoter Score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 single, powerful metric that measures customer loyalty by asking one essential question: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944936" y="3237607"/>
            <a:ext cx="263439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"How likely are you to recommend our product/service?" 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ranges from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0 to 10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3067546"/>
            <a:ext cx="25399" cy="1549797"/>
          </a:xfrm>
          <a:prstGeom prst="roundRect">
            <a:avLst>
              <a:gd name="adj" fmla="val 50001"/>
            </a:avLst>
          </a:prstGeom>
          <a:solidFill>
            <a:srgbClr val="2150FE"/>
          </a:solidFill>
          <a:ln/>
        </p:spPr>
      </p:sp>
      <p:sp>
        <p:nvSpPr>
          <p:cNvPr id="7" name="Text 4"/>
          <p:cNvSpPr/>
          <p:nvPr/>
        </p:nvSpPr>
        <p:spPr>
          <a:xfrm>
            <a:off x="4046833" y="1664196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Groups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4046833" y="2172097"/>
            <a:ext cx="2917851" cy="1164729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4235840" y="2361109"/>
            <a:ext cx="2539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Promoters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235840" y="2845395"/>
            <a:ext cx="25398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9–10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046833" y="3525838"/>
            <a:ext cx="2917851" cy="1164729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4235840" y="3714849"/>
            <a:ext cx="2539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Passives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4235840" y="4199136"/>
            <a:ext cx="25398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7–8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4046833" y="4879578"/>
            <a:ext cx="2917851" cy="1164729"/>
          </a:xfrm>
          <a:prstGeom prst="roundRect">
            <a:avLst>
              <a:gd name="adj" fmla="val 2434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4235840" y="5068590"/>
            <a:ext cx="253983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Detractors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4235840" y="5552877"/>
            <a:ext cx="253983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0–6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9055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NPS Calculation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61475" y="1373783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Formula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1757462"/>
            <a:ext cx="5239810" cy="1375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00" dirty="0">
                <a:solidFill>
                  <a:srgbClr val="2150FE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NPS = % Promoters − % Detractors</a:t>
            </a:r>
            <a:endParaRPr lang="en-US" sz="4300" dirty="0"/>
          </a:p>
        </p:txBody>
      </p:sp>
      <p:sp>
        <p:nvSpPr>
          <p:cNvPr id="5" name="Text 3"/>
          <p:cNvSpPr/>
          <p:nvPr/>
        </p:nvSpPr>
        <p:spPr>
          <a:xfrm>
            <a:off x="661475" y="3267571"/>
            <a:ext cx="52398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Example Breakdown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3668018"/>
            <a:ext cx="2552636" cy="975816"/>
          </a:xfrm>
          <a:prstGeom prst="roundRect">
            <a:avLst>
              <a:gd name="adj" fmla="val 245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9965" y="3846513"/>
            <a:ext cx="219565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Promoters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39965" y="4230191"/>
            <a:ext cx="219565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60%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48648" y="3668018"/>
            <a:ext cx="2552636" cy="975816"/>
          </a:xfrm>
          <a:prstGeom prst="roundRect">
            <a:avLst>
              <a:gd name="adj" fmla="val 245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7138" y="3846513"/>
            <a:ext cx="219565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Passives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527138" y="4230191"/>
            <a:ext cx="2195656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1475" y="4778375"/>
            <a:ext cx="5239810" cy="975816"/>
          </a:xfrm>
          <a:prstGeom prst="roundRect">
            <a:avLst>
              <a:gd name="adj" fmla="val 2452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965" y="4956870"/>
            <a:ext cx="488282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Detractors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39965" y="5340548"/>
            <a:ext cx="4882829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1475" y="5905500"/>
            <a:ext cx="5849394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60 − 20 =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2150FE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NPS of 40</a:t>
            </a:r>
            <a:endParaRPr lang="en-US" sz="12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6760" y="1390551"/>
            <a:ext cx="5239810" cy="377170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77711" y="5294511"/>
            <a:ext cx="2554819" cy="8920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94300" y="5313561"/>
            <a:ext cx="233823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Positive NPS</a:t>
            </a:r>
            <a:endParaRPr lang="en-US" sz="1550" dirty="0"/>
          </a:p>
        </p:txBody>
      </p:sp>
      <p:sp>
        <p:nvSpPr>
          <p:cNvPr id="19" name="Text 15"/>
          <p:cNvSpPr/>
          <p:nvPr/>
        </p:nvSpPr>
        <p:spPr>
          <a:xfrm>
            <a:off x="6494300" y="5697240"/>
            <a:ext cx="2338230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More happy customers than unhappy ones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1652" y="5294511"/>
            <a:ext cx="2554918" cy="8920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98241" y="5313561"/>
            <a:ext cx="233832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Negative NPS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9198241" y="5697240"/>
            <a:ext cx="2338329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More unhappy customers — action required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Text Feedback Analysis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909538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6763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Extract Insights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600340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Identify Sentiment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5352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 Text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459196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Collect Comments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658148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Cleaning Steps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61475" y="5853013"/>
            <a:ext cx="5319083" cy="373162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 unnecessary words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Convert to lowercase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Remove punctuation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217487" y="5658148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Real Examples</a:t>
            </a:r>
            <a:endParaRPr lang="en-US" sz="9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17487" y="5858867"/>
            <a:ext cx="2635879" cy="5289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75439" y="5966023"/>
            <a:ext cx="2370773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Positive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375439" y="6167239"/>
            <a:ext cx="237077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"Fast delivery and excellent service"</a:t>
            </a:r>
            <a:endParaRPr lang="en-US" sz="7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0592" y="5858867"/>
            <a:ext cx="2635978" cy="52893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8544" y="5966023"/>
            <a:ext cx="237087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 Negative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9058544" y="6167239"/>
            <a:ext cx="237087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"Poor quality and late delivery"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73404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Finding Key Drivers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097236" y="2608163"/>
            <a:ext cx="3190101" cy="2515791"/>
          </a:xfrm>
          <a:prstGeom prst="roundRect">
            <a:avLst>
              <a:gd name="adj" fmla="val 1127"/>
            </a:avLst>
          </a:prstGeom>
          <a:solidFill>
            <a:srgbClr val="2150FE"/>
          </a:solidFill>
          <a:ln/>
        </p:spPr>
      </p:sp>
      <p:sp>
        <p:nvSpPr>
          <p:cNvPr id="5" name="Text 2"/>
          <p:cNvSpPr/>
          <p:nvPr/>
        </p:nvSpPr>
        <p:spPr>
          <a:xfrm>
            <a:off x="5286243" y="2797175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Promoter Drivers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286243" y="3281462"/>
            <a:ext cx="2812087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Good product quality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Fast delivery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Helpful customer service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Easy-to-use application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Reasonable price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2797175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Detractor Drivers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618719" y="3281462"/>
            <a:ext cx="2917851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Late delivery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Poor product quality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price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Technical problems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Slow customer support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378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Basic Analytics Using Python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61475" y="1091902"/>
            <a:ext cx="5844930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Simple Process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682" y="1368326"/>
            <a:ext cx="4884516" cy="48845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6108" y="2308603"/>
            <a:ext cx="1573856" cy="24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Data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616108" y="2625742"/>
            <a:ext cx="1573856" cy="32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Load and manage records with Pandas.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986357" y="2308603"/>
            <a:ext cx="1573856" cy="24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NPS Score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986357" y="2625742"/>
            <a:ext cx="1573856" cy="323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Calculate satisfaction metrics from surveys.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16245" y="4597707"/>
            <a:ext cx="1573857" cy="24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Text Cleaning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16245" y="4914845"/>
            <a:ext cx="1573857" cy="485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Preprocess comments using NLTK techniques.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86357" y="4597707"/>
            <a:ext cx="1573856" cy="24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Word Analysis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3986357" y="4914845"/>
            <a:ext cx="1573856" cy="485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Compute frequencies and sentiment indicators.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08022" y="2147987"/>
            <a:ext cx="472844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Python Tools</a:t>
            </a:r>
            <a:endParaRPr lang="en-US" sz="11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08022" y="2424410"/>
            <a:ext cx="302709" cy="3027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07665" y="2424410"/>
            <a:ext cx="4328806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Pandas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7207665" y="2691110"/>
            <a:ext cx="4328806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Manage customer data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08022" y="3005038"/>
            <a:ext cx="302709" cy="3027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07665" y="3005038"/>
            <a:ext cx="4328806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NLTK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7207665" y="3271738"/>
            <a:ext cx="4328806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Text preprocessing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08022" y="3585666"/>
            <a:ext cx="302709" cy="3027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07665" y="3585666"/>
            <a:ext cx="4328806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Matplotlib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7207665" y="3852366"/>
            <a:ext cx="4328806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charts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8022" y="4166295"/>
            <a:ext cx="302709" cy="3027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207665" y="4166295"/>
            <a:ext cx="4328806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Word Frequency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7207665" y="4432995"/>
            <a:ext cx="4328806" cy="15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Find common words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808022" y="4679057"/>
            <a:ext cx="4728449" cy="517723"/>
          </a:xfrm>
          <a:prstGeom prst="roundRect">
            <a:avLst>
              <a:gd name="adj" fmla="val 3508"/>
            </a:avLst>
          </a:prstGeom>
          <a:solidFill>
            <a:srgbClr val="CCD7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29066" y="4795143"/>
            <a:ext cx="151305" cy="121047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201414" y="4779070"/>
            <a:ext cx="4214013" cy="31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Most common positive word →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"quality"</a:t>
            </a:r>
            <a:pPr algn="l" indent="0" marL="0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Most common negative word → </a:t>
            </a:r>
            <a:pPr algn="l" indent="0" marL="0">
              <a:lnSpc>
                <a:spcPct val="109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"delivery"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3698"/>
            <a:ext cx="6296860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Benefits &amp; Conclusion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61475" y="1043384"/>
            <a:ext cx="6296860" cy="1108373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5" name="Shape 2"/>
          <p:cNvSpPr/>
          <p:nvPr/>
        </p:nvSpPr>
        <p:spPr>
          <a:xfrm>
            <a:off x="785495" y="1167408"/>
            <a:ext cx="372061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7787" y="1269702"/>
            <a:ext cx="167378" cy="16738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495" y="1620838"/>
            <a:ext cx="60488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Understand Opinions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85495" y="1863427"/>
            <a:ext cx="60488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Know exactly how customers feel about your brand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61475" y="2233116"/>
            <a:ext cx="6296860" cy="1108373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10" name="Shape 6"/>
          <p:cNvSpPr/>
          <p:nvPr/>
        </p:nvSpPr>
        <p:spPr>
          <a:xfrm>
            <a:off x="785495" y="2357140"/>
            <a:ext cx="372061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7787" y="2459434"/>
            <a:ext cx="167378" cy="1673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5495" y="2810570"/>
            <a:ext cx="60488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Identify Satisfaction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785495" y="3053159"/>
            <a:ext cx="60488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Pinpoint the reasons customers love your product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61475" y="3422848"/>
            <a:ext cx="6296860" cy="1108373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15" name="Shape 10"/>
          <p:cNvSpPr/>
          <p:nvPr/>
        </p:nvSpPr>
        <p:spPr>
          <a:xfrm>
            <a:off x="785495" y="3546872"/>
            <a:ext cx="372061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7787" y="3649166"/>
            <a:ext cx="167378" cy="1673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85495" y="4000302"/>
            <a:ext cx="60488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Find Complaints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85495" y="4242891"/>
            <a:ext cx="60488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Uncover the root causes of dissatisfaction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61475" y="4612580"/>
            <a:ext cx="6296860" cy="1108373"/>
          </a:xfrm>
          <a:prstGeom prst="roundRect">
            <a:avLst>
              <a:gd name="adj" fmla="val 1679"/>
            </a:avLst>
          </a:prstGeom>
          <a:solidFill>
            <a:srgbClr val="F2EEEE"/>
          </a:solidFill>
          <a:ln/>
        </p:spPr>
      </p:sp>
      <p:sp>
        <p:nvSpPr>
          <p:cNvPr id="20" name="Shape 14"/>
          <p:cNvSpPr/>
          <p:nvPr/>
        </p:nvSpPr>
        <p:spPr>
          <a:xfrm>
            <a:off x="785495" y="4736604"/>
            <a:ext cx="372061" cy="372070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787" y="4838898"/>
            <a:ext cx="167378" cy="16738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85495" y="5190034"/>
            <a:ext cx="604881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Improve &amp; Grow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785495" y="5432623"/>
            <a:ext cx="604881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Enhance products, services, and customer loyalty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847505" y="5904111"/>
            <a:ext cx="6110829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NPS shows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how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customers feel. Text analysis explains </a:t>
            </a:r>
            <a:pPr algn="l"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why</a:t>
            </a:r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they feel that way. Combining both gives better customer insights.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61475" y="5812532"/>
            <a:ext cx="12700" cy="511770"/>
          </a:xfrm>
          <a:prstGeom prst="roundRect">
            <a:avLst>
              <a:gd name="adj" fmla="val 49999"/>
            </a:avLst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2026-08-23T08:42:54Z</dcterms:created>
  <dcterms:modified xsi:type="dcterms:W3CDTF">2026-08-23T08:42:54Z</dcterms:modified>
</cp:coreProperties>
</file>